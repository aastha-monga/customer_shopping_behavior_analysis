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Lora"/>
      <p:regular r:id="rId201314"/>
    </p:embeddedFont>
    <p:embeddedFont>
      <p:font typeface="Lora Bold"/>
      <p:regular r:id="rId201315"/>
    </p:embeddedFont>
    <p:embeddedFont>
      <p:font typeface="Source Sans 3"/>
      <p:regular r:id="rId201316"/>
    </p:embeddedFont>
    <p:embeddedFont>
      <p:font typeface="Source Sans 3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1.png"/><Relationship Id="rId8" Type="http://schemas.openxmlformats.org/officeDocument/2006/relationships/image" Target="../media/image-10-2.svg"/><Relationship Id="rId9" Type="http://schemas.openxmlformats.org/officeDocument/2006/relationships/image" Target="../media/image-10-1.png"/><Relationship Id="rId10" Type="http://schemas.openxmlformats.org/officeDocument/2006/relationships/image" Target="../media/image-10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2373511"/>
            <a:ext cx="622363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Customer Shopping Behavior Analysis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5269971" y="3846016"/>
            <a:ext cx="622363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3,900 purchases — 18 features — goal: uncover spending patterns, segments, product &amp; subscription insights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1595735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Dataset Summary</a:t>
            </a:r>
            <a:endParaRPr lang="en-US" sz="3650" dirty="0"/>
          </a:p>
        </p:txBody>
      </p:sp>
      <p:sp>
        <p:nvSpPr>
          <p:cNvPr id="4" name="Shape 1"/>
          <p:cNvSpPr/>
          <p:nvPr/>
        </p:nvSpPr>
        <p:spPr>
          <a:xfrm>
            <a:off x="5269971" y="2481560"/>
            <a:ext cx="3012107" cy="1450181"/>
          </a:xfrm>
          <a:prstGeom prst="roundRect">
            <a:avLst>
              <a:gd name="adj" fmla="val 2063"/>
            </a:avLst>
          </a:prstGeom>
          <a:solidFill>
            <a:srgbClr val="F3E7D4"/>
          </a:solidFill>
          <a:ln/>
        </p:spPr>
      </p:sp>
      <p:sp>
        <p:nvSpPr>
          <p:cNvPr id="5" name="Text 2"/>
          <p:cNvSpPr/>
          <p:nvPr/>
        </p:nvSpPr>
        <p:spPr>
          <a:xfrm>
            <a:off x="5469396" y="2680990"/>
            <a:ext cx="261325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Size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69396" y="3093938"/>
            <a:ext cx="2613257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Rows: 3,900 · Columns: 18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8481503" y="2481560"/>
            <a:ext cx="3012107" cy="1450181"/>
          </a:xfrm>
          <a:prstGeom prst="roundRect">
            <a:avLst>
              <a:gd name="adj" fmla="val 2063"/>
            </a:avLst>
          </a:prstGeom>
          <a:solidFill>
            <a:srgbClr val="F3E7D4"/>
          </a:solidFill>
          <a:ln/>
        </p:spPr>
      </p:sp>
      <p:sp>
        <p:nvSpPr>
          <p:cNvPr id="8" name="Text 5"/>
          <p:cNvSpPr/>
          <p:nvPr/>
        </p:nvSpPr>
        <p:spPr>
          <a:xfrm>
            <a:off x="8680927" y="2680990"/>
            <a:ext cx="261325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Features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0927" y="3093938"/>
            <a:ext cx="2613257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Demographics, Purchase details, Behavior, Subscription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269971" y="4131171"/>
            <a:ext cx="6223638" cy="1130995"/>
          </a:xfrm>
          <a:prstGeom prst="roundRect">
            <a:avLst>
              <a:gd name="adj" fmla="val 2646"/>
            </a:avLst>
          </a:prstGeom>
          <a:solidFill>
            <a:srgbClr val="F3E7D4"/>
          </a:solidFill>
          <a:ln/>
        </p:spPr>
      </p:sp>
      <p:sp>
        <p:nvSpPr>
          <p:cNvPr id="11" name="Text 8"/>
          <p:cNvSpPr/>
          <p:nvPr/>
        </p:nvSpPr>
        <p:spPr>
          <a:xfrm>
            <a:off x="5469396" y="4330601"/>
            <a:ext cx="582478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Missing Data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469396" y="4743549"/>
            <a:ext cx="5824789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37 values in Review Rating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490663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Preparation (Python)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2476302"/>
            <a:ext cx="398949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01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98086" y="2789932"/>
            <a:ext cx="3465525" cy="25400"/>
          </a:xfrm>
          <a:prstGeom prst="rect">
            <a:avLst/>
          </a:prstGeom>
          <a:solidFill>
            <a:srgbClr val="38512F"/>
          </a:solidFill>
          <a:ln/>
        </p:spPr>
      </p:sp>
      <p:sp>
        <p:nvSpPr>
          <p:cNvPr id="5" name="Text 3"/>
          <p:cNvSpPr/>
          <p:nvPr/>
        </p:nvSpPr>
        <p:spPr>
          <a:xfrm>
            <a:off x="698086" y="2940447"/>
            <a:ext cx="3465525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Load &amp; Explore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98086" y="3353395"/>
            <a:ext cx="3465525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pandas, df.info(), .describe()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363035" y="2476302"/>
            <a:ext cx="398949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02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4363035" y="2789932"/>
            <a:ext cx="3465525" cy="25400"/>
          </a:xfrm>
          <a:prstGeom prst="rect">
            <a:avLst/>
          </a:prstGeom>
          <a:solidFill>
            <a:srgbClr val="38512F"/>
          </a:solidFill>
          <a:ln/>
        </p:spPr>
      </p:sp>
      <p:sp>
        <p:nvSpPr>
          <p:cNvPr id="9" name="Text 7"/>
          <p:cNvSpPr/>
          <p:nvPr/>
        </p:nvSpPr>
        <p:spPr>
          <a:xfrm>
            <a:off x="4363035" y="2940447"/>
            <a:ext cx="3465525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Impute Ratings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363035" y="3353395"/>
            <a:ext cx="3465525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Median per product category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027985" y="2476302"/>
            <a:ext cx="398949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03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027985" y="2789932"/>
            <a:ext cx="3465624" cy="25400"/>
          </a:xfrm>
          <a:prstGeom prst="rect">
            <a:avLst/>
          </a:prstGeom>
          <a:solidFill>
            <a:srgbClr val="38512F"/>
          </a:solidFill>
          <a:ln/>
        </p:spPr>
      </p:sp>
      <p:sp>
        <p:nvSpPr>
          <p:cNvPr id="13" name="Text 11"/>
          <p:cNvSpPr/>
          <p:nvPr/>
        </p:nvSpPr>
        <p:spPr>
          <a:xfrm>
            <a:off x="8027985" y="2940447"/>
            <a:ext cx="346562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Standardize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027985" y="3353395"/>
            <a:ext cx="346562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Rename columns to snake_case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98086" y="4021534"/>
            <a:ext cx="398949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04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98086" y="4335165"/>
            <a:ext cx="5298049" cy="25400"/>
          </a:xfrm>
          <a:prstGeom prst="rect">
            <a:avLst/>
          </a:prstGeom>
          <a:solidFill>
            <a:srgbClr val="38512F"/>
          </a:solidFill>
          <a:ln/>
        </p:spPr>
      </p:sp>
      <p:sp>
        <p:nvSpPr>
          <p:cNvPr id="17" name="Text 15"/>
          <p:cNvSpPr/>
          <p:nvPr/>
        </p:nvSpPr>
        <p:spPr>
          <a:xfrm>
            <a:off x="698086" y="4485680"/>
            <a:ext cx="529804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Feature Eng.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8086" y="4898628"/>
            <a:ext cx="5298049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age_group, purchase_frequency_days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195560" y="4021534"/>
            <a:ext cx="398949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05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6195560" y="4335165"/>
            <a:ext cx="5298049" cy="25400"/>
          </a:xfrm>
          <a:prstGeom prst="rect">
            <a:avLst/>
          </a:prstGeom>
          <a:solidFill>
            <a:srgbClr val="38512F"/>
          </a:solidFill>
          <a:ln/>
        </p:spPr>
      </p:sp>
      <p:sp>
        <p:nvSpPr>
          <p:cNvPr id="21" name="Text 19"/>
          <p:cNvSpPr/>
          <p:nvPr/>
        </p:nvSpPr>
        <p:spPr>
          <a:xfrm>
            <a:off x="6195560" y="4485680"/>
            <a:ext cx="529804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Finalize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195560" y="4898628"/>
            <a:ext cx="5298049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Dropped promo_code_used, loaded to PostgreSQL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2373511"/>
            <a:ext cx="622363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SQL Analysis — Key Questions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98086" y="3846016"/>
            <a:ext cx="622363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Revenue by gender, discount behavior, top-rated items, shipping comparison, subscriptions, segmentation, top products per category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2288183"/>
            <a:ext cx="4026196" cy="22815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17188" y="2252166"/>
            <a:ext cx="6282672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Revenue by Gender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5217188" y="2921000"/>
            <a:ext cx="6892256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Male: 157,890 · Female: 75,191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5217188" y="3514328"/>
            <a:ext cx="6282672" cy="25400"/>
          </a:xfrm>
          <a:prstGeom prst="roundRect">
            <a:avLst>
              <a:gd name="adj" fmla="val 49999"/>
            </a:avLst>
          </a:prstGeom>
          <a:solidFill>
            <a:srgbClr val="3A3630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5217188" y="3813870"/>
            <a:ext cx="628267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Shipping Comparison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217188" y="4306590"/>
            <a:ext cx="6892256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Standard avg $58.46 · Express avg $60.48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939330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Discounts &amp; High-Spending Users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2924969"/>
            <a:ext cx="1140510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839 rows: customers who used discounts but spent above average</a:t>
            </a:r>
            <a:endParaRPr lang="en-US" sz="1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3468489"/>
            <a:ext cx="1160037" cy="145008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07453" y="3468489"/>
            <a:ext cx="386368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Discount-Dependent Products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2107453" y="3881438"/>
            <a:ext cx="3863680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Top 5 discount rates: Hat 50.00%, Sneakers 49.66%, Coat 49.07%, Sweater 48.17%, Pants 47.37%</a:t>
            </a:r>
            <a:endParaRPr lang="en-US" sz="15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0463" y="3468489"/>
            <a:ext cx="1160037" cy="145008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629830" y="3468489"/>
            <a:ext cx="386377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High-Spenders Using Discounts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7629830" y="3881438"/>
            <a:ext cx="3863779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Identified multiple customers spending well above average while using discounts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573808"/>
            <a:ext cx="5154484" cy="371028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45476" y="1548904"/>
            <a:ext cx="5154484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Top Metrics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6345476" y="2217738"/>
            <a:ext cx="576406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Customers: 3.9K · Avg purchase: $59.76 · Avg rating: 3.75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345476" y="2811066"/>
            <a:ext cx="5154484" cy="25400"/>
          </a:xfrm>
          <a:prstGeom prst="roundRect">
            <a:avLst>
              <a:gd name="adj" fmla="val 49999"/>
            </a:avLst>
          </a:prstGeom>
          <a:solidFill>
            <a:srgbClr val="3A3630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345476" y="3110607"/>
            <a:ext cx="515448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Sales by Category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345476" y="3603327"/>
            <a:ext cx="5154484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Clothing 1,800 · Accessories 1,200 · Footwear 600 · Outerwear 200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133773"/>
            <a:ext cx="4590340" cy="459045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81332" y="2376388"/>
            <a:ext cx="5718528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Revenue &amp; Sales by Age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5781332" y="3045222"/>
            <a:ext cx="5718528" cy="1456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400"/>
              </a:spcAft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Revenue by age group: Young Adult 62,143 · Middle-aged 59,197 · Adult 55,978 · Senior 55,763</a:t>
            </a:r>
            <a:endParaRPr lang="en-US" sz="1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Sales by age group (counts): Young Adult 900 · Middle-aged 850 · Senior 800 · Adult 750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2666901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Dashboard (Power BI)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98086" y="3552726"/>
            <a:ext cx="622363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Interactive dashboard with KPIs, donut for subscriptions (Yes 27% · No 73%), revenue &amp; sales charts, age-group breakdowns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335484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Business Recommendations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086" y="2321123"/>
            <a:ext cx="3465525" cy="15009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4507" y="2545953"/>
            <a:ext cx="291427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Boost Subscriptions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024507" y="2958902"/>
            <a:ext cx="2914279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Promote exclusive benefits for subscribers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035" y="2321123"/>
            <a:ext cx="3465525" cy="150098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89457" y="2545953"/>
            <a:ext cx="291427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Loyalty Programs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4689457" y="2958902"/>
            <a:ext cx="2914279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Reward repeat buyers to increase loyalty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27985" y="2321123"/>
            <a:ext cx="3465624" cy="150098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54407" y="2545953"/>
            <a:ext cx="291437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Discount Policy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8354407" y="2958902"/>
            <a:ext cx="2914379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Review balance between sales lift and margins</a:t>
            </a:r>
            <a:endParaRPr lang="en-US" sz="15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8086" y="4021534"/>
            <a:ext cx="3465525" cy="150098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24507" y="4246364"/>
            <a:ext cx="291427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Product Positioning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1024507" y="4659313"/>
            <a:ext cx="2914279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Promote top-rated &amp; best-selling items</a:t>
            </a:r>
            <a:endParaRPr lang="en-US" sz="15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63035" y="4021534"/>
            <a:ext cx="3465525" cy="150098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689457" y="4246364"/>
            <a:ext cx="291427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Targeted Marketing</a:t>
            </a:r>
            <a:endParaRPr lang="en-US" sz="1800" dirty="0"/>
          </a:p>
        </p:txBody>
      </p:sp>
      <p:sp>
        <p:nvSpPr>
          <p:cNvPr id="17" name="Text 10"/>
          <p:cNvSpPr/>
          <p:nvPr/>
        </p:nvSpPr>
        <p:spPr>
          <a:xfrm>
            <a:off x="4689457" y="4659313"/>
            <a:ext cx="2914279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Focus on high-revenue age groups &amp; express-shipping users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2026-09-12T16:19:49Z</dcterms:created>
  <dcterms:modified xsi:type="dcterms:W3CDTF">2026-09-12T16:19:49Z</dcterms:modified>
</cp:coreProperties>
</file>